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  <p:sldId id="264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430000" y="274320"/>
            <a:ext cx="228600" cy="228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064240" y="274320"/>
            <a:ext cx="228600" cy="22860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698480" y="274320"/>
            <a:ext cx="228600" cy="2286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THAPAR INSTITUTE OF ENGINEERING &amp;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8CAE4"/>
                </a:solidFill>
              </a:rPr>
              <a:t>Parallel and Distributed Computing  |  Course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High-Performance Grid-Based
Environmental Spread Modeling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B4D8"/>
                </a:solidFill>
              </a:rPr>
              <a:t>Using Multithreaded CPU Parallelism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3749039"/>
            <a:ext cx="7589520" cy="36576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14400" y="3931920"/>
            <a:ext cx="2286000" cy="822960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397763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8CAE4"/>
                </a:solidFill>
              </a:rPr>
              <a:t>LANGUAGE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42519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C++ / OpenMP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3931920"/>
            <a:ext cx="2286000" cy="822960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75887" y="397763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8CAE4"/>
                </a:solidFill>
              </a:rPr>
              <a:t>GRID CELLS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7" y="42519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Up to 360,000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931920"/>
            <a:ext cx="2286000" cy="822960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27648" y="397763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8CAE4"/>
                </a:solidFill>
              </a:rPr>
              <a:t>MAX THREADS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42519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8 Cores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0" y="3931920"/>
            <a:ext cx="2286000" cy="822960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79407" y="397763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8CAE4"/>
                </a:solidFill>
              </a:rPr>
              <a:t>SIMULATIONS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9407" y="42519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200 Steps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937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</a:rPr>
              <a:t>Comparing Sequential vs. Parallel execution across varying grid sizes and thread counts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TIET —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73152" cy="58978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5778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64008" cy="2194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52728"/>
            <a:ext cx="5212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1E293B"/>
                </a:solidFill>
              </a:rPr>
              <a:t> Problem Domain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5212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Natural phenomena — heat diffusion &amp; forest fire spread — can be modeled on 2D grids where each cell evolves based on neighbors over discrete time steps.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143000"/>
            <a:ext cx="55778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143000"/>
            <a:ext cx="64008" cy="2194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252728"/>
            <a:ext cx="5212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1E293B"/>
                </a:solidFill>
              </a:rPr>
              <a:t>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691640"/>
            <a:ext cx="5212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Grid is discretized into cells (EMPTY / TREE / BURNING). Each step applies probabilistic fire-spread rules. Since cell updates are independent, parallelism is a natural fit.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611880"/>
            <a:ext cx="55778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3611880"/>
            <a:ext cx="64008" cy="2194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721608"/>
            <a:ext cx="5212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1E293B"/>
                </a:solidFill>
              </a:rPr>
              <a:t>  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60520"/>
            <a:ext cx="5212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Implement both sequential and OpenMP-parallel versions; measure execution time, speedup, and scalability across grid sizes (200–600) and thread counts (1–8).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611880"/>
            <a:ext cx="55778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3611880"/>
            <a:ext cx="64008" cy="2194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3721608"/>
            <a:ext cx="5212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1E293B"/>
                </a:solidFill>
              </a:rPr>
              <a:t>  Tech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160520"/>
            <a:ext cx="5212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C++17 · OpenMP · chrono (high-res timing) · Fixed seed (srand(42)) for reproducibility · Static scheduling with collapse(2) for 2D loops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the Simulation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914400" cy="914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920240" y="1188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EMPTY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8CAE4"/>
                </a:solidFill>
              </a:rPr>
              <a:t>State = 0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097280"/>
            <a:ext cx="914400" cy="914400"/>
          </a:xfrm>
          <a:prstGeom prst="rect">
            <a:avLst/>
          </a:prstGeom>
          <a:solidFill>
            <a:srgbClr val="2D9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94960" y="1188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8CAE4"/>
                </a:solidFill>
              </a:rPr>
              <a:t>State =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1097280"/>
            <a:ext cx="914400" cy="914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0" y="1188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BURNING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8CAE4"/>
                </a:solidFill>
              </a:rPr>
              <a:t>State =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240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Update Rules (per step)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88920"/>
            <a:ext cx="11430000" cy="566928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834640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1.  BURNING  →  EMPTY  (burned out after one step)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447287"/>
            <a:ext cx="11430000" cy="566928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493008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2.  TREE with a BURNING neighbor  →  BURNING  (fire spreads to 4-connected neighbors)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105656"/>
            <a:ext cx="11430000" cy="566928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4151376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3.  TREE with no burning neighbor  →  TREE  (stays green)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764024"/>
            <a:ext cx="11430000" cy="566928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4809744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4.  EMPTY  →  EMPTY  (stays empty — no regrowth in this model)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440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8CAE4"/>
                </a:solidFill>
              </a:rPr>
              <a:t>💡  Fire always starts at grid[0][cols/2] — center of the top row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Actual Performance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645920" cy="41148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07899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</a:rPr>
              <a:t>Grid Size</a:t>
            </a:r>
          </a:p>
        </p:txBody>
      </p:sp>
      <p:sp>
        <p:nvSpPr>
          <p:cNvPr id="6" name="Rectangle 5"/>
          <p:cNvSpPr/>
          <p:nvPr/>
        </p:nvSpPr>
        <p:spPr>
          <a:xfrm>
            <a:off x="2103120" y="1051560"/>
            <a:ext cx="1097280" cy="41148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48839" y="1078992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</a:rPr>
              <a:t>Threads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051560"/>
            <a:ext cx="1280160" cy="41148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37560" y="1078992"/>
            <a:ext cx="1188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</a:rPr>
              <a:t>Mode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051560"/>
            <a:ext cx="1554480" cy="41148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59" y="1078992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</a:rPr>
              <a:t>Time (s)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051560"/>
            <a:ext cx="1371600" cy="41148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07899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</a:rPr>
              <a:t>Speedup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508760"/>
            <a:ext cx="164592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1517904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200×200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03120" y="1508760"/>
            <a:ext cx="109728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148839" y="1517904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1508760"/>
            <a:ext cx="128016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37560" y="1517904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Parallel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1508760"/>
            <a:ext cx="155448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09159" y="1517904"/>
            <a:ext cx="14630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0.4816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508760"/>
            <a:ext cx="137160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1517904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0.9731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1810512"/>
            <a:ext cx="164592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1819656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200×200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03120" y="1810512"/>
            <a:ext cx="109728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148839" y="1819656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1810512"/>
            <a:ext cx="128016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337560" y="1819656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Parallel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1810512"/>
            <a:ext cx="155448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09159" y="1819656"/>
            <a:ext cx="14630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0.2855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1810512"/>
            <a:ext cx="137160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55080" y="1819656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1.6415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2112264"/>
            <a:ext cx="164592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1480" y="2121408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200×200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03120" y="2112264"/>
            <a:ext cx="109728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148839" y="2121408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840" y="2112264"/>
            <a:ext cx="128016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337560" y="2121408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Parallel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63440" y="2112264"/>
            <a:ext cx="155448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709159" y="2121408"/>
            <a:ext cx="14630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0.1761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2112264"/>
            <a:ext cx="137160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55080" y="2121408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2.6609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2414015"/>
            <a:ext cx="164592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11480" y="2423159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200×200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03120" y="2414015"/>
            <a:ext cx="109728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148839" y="2423159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91840" y="2414015"/>
            <a:ext cx="128016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337560" y="2423159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Parallel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63440" y="2414015"/>
            <a:ext cx="155448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709159" y="2423159"/>
            <a:ext cx="14630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0.1863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2414015"/>
            <a:ext cx="137160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55080" y="2423159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2.5157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2715768"/>
            <a:ext cx="1645920" cy="283464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11480" y="272491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200×200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103120" y="2715768"/>
            <a:ext cx="1097280" cy="283464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148839" y="272491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91840" y="2715768"/>
            <a:ext cx="1280160" cy="283464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337560" y="2724911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Sequential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63440" y="2715768"/>
            <a:ext cx="1554480" cy="283464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709159" y="2724911"/>
            <a:ext cx="14630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0.4687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2715768"/>
            <a:ext cx="1371600" cy="283464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355080" y="2724911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1.0000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3017520"/>
            <a:ext cx="164592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11480" y="3026663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400×400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103120" y="3017520"/>
            <a:ext cx="109728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148839" y="3026663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91840" y="3017520"/>
            <a:ext cx="128016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337560" y="3026663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Parallel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63440" y="3017520"/>
            <a:ext cx="155448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709159" y="3026663"/>
            <a:ext cx="14630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2.1822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09360" y="3017520"/>
            <a:ext cx="137160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355080" y="3026663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0.9761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5760" y="3319272"/>
            <a:ext cx="164592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11480" y="3328415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400×400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103120" y="3319272"/>
            <a:ext cx="109728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148839" y="3328415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91840" y="3319272"/>
            <a:ext cx="128016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337560" y="3328415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Parallel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663440" y="3319272"/>
            <a:ext cx="155448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709159" y="3328415"/>
            <a:ext cx="14630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1.1578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309360" y="3319272"/>
            <a:ext cx="137160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355080" y="3328415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1.8397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65760" y="3621024"/>
            <a:ext cx="164592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11480" y="3630168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400×400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103120" y="3621024"/>
            <a:ext cx="109728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2148839" y="3630168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4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291840" y="3621024"/>
            <a:ext cx="128016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3337560" y="3630168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Parallel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63440" y="3621024"/>
            <a:ext cx="155448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709159" y="3630168"/>
            <a:ext cx="14630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0.6971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309360" y="3621024"/>
            <a:ext cx="137160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355080" y="3630168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3.0554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65760" y="3922776"/>
            <a:ext cx="164592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11480" y="3931920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400×400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103120" y="3922776"/>
            <a:ext cx="109728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2148839" y="3931920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8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291840" y="3922776"/>
            <a:ext cx="128016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3337560" y="3931920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Parallel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63440" y="3922776"/>
            <a:ext cx="155448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4709159" y="3931920"/>
            <a:ext cx="14630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0.6390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309360" y="3922776"/>
            <a:ext cx="137160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355080" y="3931920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3.3335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65760" y="4224528"/>
            <a:ext cx="1645920" cy="283464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11480" y="423367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400×400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103120" y="4224528"/>
            <a:ext cx="1097280" cy="283464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2148839" y="423367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291840" y="4224528"/>
            <a:ext cx="1280160" cy="283464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3337560" y="4233672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Sequential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63440" y="4224528"/>
            <a:ext cx="1554480" cy="283464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4709159" y="4233672"/>
            <a:ext cx="14630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2.1299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309360" y="4224528"/>
            <a:ext cx="1371600" cy="283464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6355080" y="4233672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1.0000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65760" y="4526280"/>
            <a:ext cx="164592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411480" y="4535424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600×600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103120" y="4526280"/>
            <a:ext cx="109728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2148839" y="4535424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291840" y="4526280"/>
            <a:ext cx="128016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3337560" y="4535424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Parallel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663440" y="4526280"/>
            <a:ext cx="155448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4709159" y="4535424"/>
            <a:ext cx="14630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5.0303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309360" y="4526280"/>
            <a:ext cx="137160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6355080" y="4535424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0.9748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65760" y="4828032"/>
            <a:ext cx="164592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411480" y="4837176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600×600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103120" y="4828032"/>
            <a:ext cx="109728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2148839" y="4837176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2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3291840" y="4828032"/>
            <a:ext cx="128016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3337560" y="4837176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Parallel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63440" y="4828032"/>
            <a:ext cx="155448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4709159" y="4837176"/>
            <a:ext cx="14630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2.6078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309360" y="4828032"/>
            <a:ext cx="137160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6355080" y="4837176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1.8804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365760" y="5129783"/>
            <a:ext cx="164592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411480" y="5138927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600×600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103120" y="5129783"/>
            <a:ext cx="109728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2148839" y="5138927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4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3291840" y="5129783"/>
            <a:ext cx="128016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3337560" y="5138927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Parallel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663440" y="5129783"/>
            <a:ext cx="155448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4709159" y="5138927"/>
            <a:ext cx="14630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1.5256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309360" y="5129783"/>
            <a:ext cx="137160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6355080" y="5138927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3.2142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365760" y="5431536"/>
            <a:ext cx="164592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411480" y="5440679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600×600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2103120" y="5431536"/>
            <a:ext cx="109728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2148839" y="5440679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8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3291840" y="5431536"/>
            <a:ext cx="128016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3337560" y="5440679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Parallel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4663440" y="5431536"/>
            <a:ext cx="155448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4709159" y="5440679"/>
            <a:ext cx="14630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1.4152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309360" y="5431536"/>
            <a:ext cx="1371600" cy="28346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6355080" y="5440679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3.4651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365760" y="5733288"/>
            <a:ext cx="1645920" cy="283464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411480" y="574243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600×600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2103120" y="5733288"/>
            <a:ext cx="1097280" cy="283464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2148839" y="574243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1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3291840" y="5733288"/>
            <a:ext cx="1280160" cy="283464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3337560" y="5742431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Sequential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63440" y="5733288"/>
            <a:ext cx="1554480" cy="283464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4709159" y="5742431"/>
            <a:ext cx="14630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4.9036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309360" y="5733288"/>
            <a:ext cx="1371600" cy="283464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6355080" y="5742431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</a:rPr>
              <a:t>1.0000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36576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* Actual results measured on test machine (srand(42), 200 steps per run)</a:t>
            </a:r>
          </a:p>
        </p:txBody>
      </p:sp>
      <p:pic>
        <p:nvPicPr>
          <p:cNvPr id="166" name="Picture 165">
            <a:extLst>
              <a:ext uri="{FF2B5EF4-FFF2-40B4-BE49-F238E27FC236}">
                <a16:creationId xmlns:a16="http://schemas.microsoft.com/office/drawing/2014/main" id="{423B76AF-F733-4B7A-9CE5-1DE75FB24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910" y="1513331"/>
            <a:ext cx="4144890" cy="34564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F012FB-3F35-4137-8D77-DBB729425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982" y="1380931"/>
            <a:ext cx="12184976" cy="408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168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Execution Time — Parallel vs Threads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8CAE4"/>
                </a:solidFill>
              </a:rPr>
              <a:t>Lower is better  •  All values in seconds  •  200 simulation steps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Speedup Analysis — All Grid Sizes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8CAE4"/>
                </a:solidFill>
              </a:rPr>
              <a:t>Speedup = Sequential Time / Parallel Time  •  Dashed = ideal linear scaling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Sequential vs. Parallel  &amp;  Parallel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600×600 Grid: Seq vs Par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57784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0058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Parallel Efficiency by Grid Size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66928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52120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E293B"/>
                </a:solidFill>
              </a:rPr>
              <a:t>💡  Larger grids show better efficiency because computation-to-thread-overhead ratio is higher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Key Findings &amp;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486400" cy="160020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73152" cy="1600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07007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CAE4"/>
                </a:solidFill>
              </a:rPr>
              <a:t>⚡  Peak Speedup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17043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6B35"/>
                </a:solidFill>
              </a:rPr>
              <a:t>~3.47×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19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600×600 grid with 8 threads — real hardware shows sub-linear but meaningful scaling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097280"/>
            <a:ext cx="5486400" cy="160020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26480" y="1097280"/>
            <a:ext cx="73152" cy="1600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1207007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CAE4"/>
                </a:solidFill>
              </a:rPr>
              <a:t>📉  Overhead Effect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117043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6B35"/>
                </a:solidFill>
              </a:rPr>
              <a:t>~1.0×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45919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1-thread parallel is almost identical to sequential — no false parallelism overhead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834639"/>
            <a:ext cx="5486400" cy="160020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" y="2834639"/>
            <a:ext cx="73152" cy="1600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94436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CAE4"/>
                </a:solidFill>
              </a:rPr>
              <a:t>📈  Scalability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907791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6B35"/>
                </a:solidFill>
              </a:rPr>
              <a:t>Sub-linear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383279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Efficiency drops from ~99% (2T) to ~80% (8T) as thread-management cost rises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834639"/>
            <a:ext cx="5486400" cy="160020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0" y="2834639"/>
            <a:ext cx="73152" cy="1600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294436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CAE4"/>
                </a:solidFill>
              </a:rPr>
              <a:t>🗂  Grid Size 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2907791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6B35"/>
                </a:solidFill>
              </a:rPr>
              <a:t>Bigger = Better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383279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Larger grids hide overhead — 600×600 outperforms 200×200 in efficiency at 8T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572000"/>
            <a:ext cx="5486400" cy="160020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320" y="4572000"/>
            <a:ext cx="73152" cy="1600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6817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CAE4"/>
                </a:solidFill>
              </a:rPr>
              <a:t>🔁  collapse(2)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64515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6B35"/>
                </a:solidFill>
              </a:rPr>
              <a:t>Correct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1206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Flattening nested loops improves load balance across all threads evenly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4572000"/>
            <a:ext cx="5486400" cy="160020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26480" y="4572000"/>
            <a:ext cx="73152" cy="1600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9360" y="46817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CAE4"/>
                </a:solidFill>
              </a:rPr>
              <a:t>🧵  Static Schedule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464515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6B35"/>
                </a:solidFill>
              </a:rPr>
              <a:t>Optimal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1206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Static scheduling is ideal when all cells take equal compute time (which they do here)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4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This project successfully demonstrates how OpenMP shared-memory parallelism can accelerate grid-based environmental simulations. By parallelizing the inner cell-update loops with collapse(2) and static scheduling, we achieved up to 3.47× speedup on a 600×600 grid with 8 threads — a solid result for a CPU-only solution on real hardware.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2514600"/>
            <a:ext cx="27432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542032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OpenMP is highly effective for data-parallel, embarrassingly parallel grid workloads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3172968"/>
            <a:ext cx="27432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Larger grid sizes amortize thread-creation overhead — scalability improves with problem size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831335"/>
            <a:ext cx="27432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85876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Sequential baseline provides an honest comparison; 1-thread parallel ≈ sequential (no spurious gain)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4489704"/>
            <a:ext cx="27432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517136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The simulation is deterministic (srand(42)) and reproducible across all runs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5148072"/>
            <a:ext cx="27432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5175504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Future work: GPU acceleration (CUDA/OpenCL), MPI for distributed-memory clusters, fire-probability parameter sweep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4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" y="635508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8CAE4"/>
                </a:solidFill>
              </a:rPr>
              <a:t>Thapar Institute of Engineering &amp; Technology  •  Parallel &amp; Distributed Computing  • 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713</Words>
  <Application>Microsoft Office PowerPoint</Application>
  <PresentationFormat>Custom</PresentationFormat>
  <Paragraphs>153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HP</dc:creator>
  <cp:keywords/>
  <dc:description>generated using python-pptx</dc:description>
  <cp:lastModifiedBy>HP</cp:lastModifiedBy>
  <cp:revision>2</cp:revision>
  <dcterms:created xsi:type="dcterms:W3CDTF">2013-01-27T09:14:16Z</dcterms:created>
  <dcterms:modified xsi:type="dcterms:W3CDTF">2026-04-29T10:19:27Z</dcterms:modified>
  <cp:category/>
</cp:coreProperties>
</file>